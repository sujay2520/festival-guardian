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hook line. One sentence: point the phone at a crowd, get a live risk score; if the network fails, alerts hop between phones.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one verified Indian stampede statistic or headline here before presenting. Keep it to a single fact the judges can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screenshot shows the Demo Footage mode (tagged REAL AI in-app) running actual TF.js/COCO-SSD detection on real concert crowd video, not a synthetic number generator. This is the strongest proof-of-real-AI moment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in Q&amp;A: vision AI is genuinely on-device (TF.js/COCO-SSD/WebGL) in a Next.js web prototype. The relay engine (TTL, dedup, typed alerts) is real code, but todays transport is BroadcastChannel, which only works across tabs on one device, not phone-to-phone yet. True offline multi-device relay via Android Nearby Connections is the planned 48-hour Finale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 if asked: the relay protocol (alert IDs, TTL, dedup) is implemented and tested today via BroadcastChannel across browser tabs on one device. The signal-strength and battery figures shown are simulated telemetry for the demo, not real radio readings yet. True phone-to-phone hops over Bluetooth/Nearby Connections is the planned 48-hour Finale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who receives the output. Concrete receivers make the idea feel real, like the Pune winner naming the civic body.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explicitly forward-looking. Do not let Phase 2/3 bleed into language used for what is demoed live today — that discipline is what makes the roadmap credible rather than a wish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exact Office Kit / Red Light-Green Light rules for this event before the Finale. Green Light (phone+laptop) time goes to model export/quantization and pitch rehearsal, not core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captures from the running app: unified alert feed (crowd risk, theft, volunteer request) and the mesh network panel showing connected peer devices.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tagline. Scope is deliberate: the risk meter fully live, plus a two-phone relay.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-1188720"/>
            <a:ext cx="2926080" cy="2926080"/>
          </a:xfrm>
          <a:prstGeom prst="ellipse">
            <a:avLst/>
          </a:prstGeom>
          <a:solidFill>
            <a:srgbClr val="141E33"/>
          </a:solidFill>
          <a:ln w="12700">
            <a:solidFill>
              <a:srgbClr val="141E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4206240"/>
            <a:ext cx="2011680" cy="2011680"/>
          </a:xfrm>
          <a:prstGeom prst="ellipse">
            <a:avLst/>
          </a:prstGeom>
          <a:solidFill>
            <a:srgbClr val="141E33"/>
          </a:solidFill>
          <a:ln w="12700">
            <a:solidFill>
              <a:srgbClr val="141E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iQOO HACKATHON 2026  ·  GRAND FINALE APPLICATION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1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Festival Guardian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Predict. Respond. Relay.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03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your phone at a crowd and get a live stampede-risk score. If the network jams, alerts hop from phone to phone.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5669280" cy="18288"/>
          </a:xfrm>
          <a:prstGeom prst="roundRect">
            <a:avLst/>
          </a:prstGeom>
          <a:solidFill>
            <a:srgbClr val="141E33"/>
          </a:solidFill>
          <a:ln w="12700">
            <a:solidFill>
              <a:srgbClr val="141E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97764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FALLING STARS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519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Poornachandra P M   ·   Dushyanth M   ·   M Sujay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960120"/>
            <a:ext cx="2651760" cy="2651760"/>
          </a:xfrm>
          <a:prstGeom prst="ellipse">
            <a:avLst/>
          </a:prstGeom>
          <a:solidFill>
            <a:srgbClr val="0B1220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234440"/>
            <a:ext cx="2103120" cy="2103120"/>
          </a:xfrm>
          <a:prstGeom prst="ellipse">
            <a:avLst/>
          </a:prstGeom>
          <a:solidFill>
            <a:srgbClr val="1E2B48"/>
          </a:solidFill>
          <a:ln w="12700">
            <a:solidFill>
              <a:srgbClr val="1E2B48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0" y="176022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1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Crowds turn deadly in minutes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502920" cy="54864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46304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141E33"/>
          </a:solidFill>
          <a:ln w="12700">
            <a:solidFill>
              <a:srgbClr val="141E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1636776"/>
            <a:ext cx="841248" cy="841248"/>
          </a:xfrm>
          <a:prstGeom prst="ellipse">
            <a:avLst/>
          </a:prstGeom>
          <a:solidFill>
            <a:srgbClr val="0B1220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91640"/>
            <a:ext cx="731520" cy="731520"/>
          </a:xfrm>
          <a:prstGeom prst="ellipse">
            <a:avLst/>
          </a:prstGeom>
          <a:solidFill>
            <a:srgbClr val="1E2B48"/>
          </a:solidFill>
          <a:ln w="12700">
            <a:solidFill>
              <a:srgbClr val="1E2B4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745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sees it building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017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rises gradually. By the time it feels dangerous, exits are already blocked.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91840" y="146304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141E33"/>
          </a:solidFill>
          <a:ln w="12700">
            <a:solidFill>
              <a:srgbClr val="141E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65576" y="1636776"/>
            <a:ext cx="841248" cy="841248"/>
          </a:xfrm>
          <a:prstGeom prst="ellipse">
            <a:avLst/>
          </a:prstGeom>
          <a:solidFill>
            <a:srgbClr val="0B1220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20440" y="1691640"/>
            <a:ext cx="731520" cy="731520"/>
          </a:xfrm>
          <a:prstGeom prst="ellipse">
            <a:avLst/>
          </a:prstGeom>
          <a:solidFill>
            <a:srgbClr val="1E2B48"/>
          </a:solidFill>
          <a:ln w="12700">
            <a:solidFill>
              <a:srgbClr val="1E2B4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8745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2044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fail at peak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3520440" y="3017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phones in one spot overload towers, so calls and messages fail.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126480" y="146304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141E33"/>
          </a:solidFill>
          <a:ln w="12700">
            <a:solidFill>
              <a:srgbClr val="141E3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00216" y="1636776"/>
            <a:ext cx="841248" cy="841248"/>
          </a:xfrm>
          <a:prstGeom prst="ellipse">
            <a:avLst/>
          </a:prstGeom>
          <a:solidFill>
            <a:srgbClr val="0B1220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55080" y="1691640"/>
            <a:ext cx="731520" cy="731520"/>
          </a:xfrm>
          <a:prstGeom prst="ellipse">
            <a:avLst/>
          </a:prstGeom>
          <a:solidFill>
            <a:srgbClr val="1E2B48"/>
          </a:solidFill>
          <a:ln w="12700">
            <a:solidFill>
              <a:srgbClr val="1E2B4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8745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5508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arrives late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6355080" y="3017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 get no early signal and no location, so response starts after the crush.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grounds, temple queues, railway platforms.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1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Point. Read. Warn.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502920" cy="54864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508760"/>
            <a:ext cx="640080" cy="640080"/>
          </a:xfrm>
          <a:prstGeom prst="ellipse">
            <a:avLst/>
          </a:prstGeom>
          <a:solidFill>
            <a:srgbClr val="1E2B48"/>
          </a:solidFill>
          <a:ln w="12700">
            <a:solidFill>
              <a:srgbClr val="1E2B4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630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camera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detection, in-browser today — no upload, no cloud call.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57200" y="2560320"/>
            <a:ext cx="640080" cy="640080"/>
          </a:xfrm>
          <a:prstGeom prst="ellipse">
            <a:avLst/>
          </a:prstGeom>
          <a:solidFill>
            <a:srgbClr val="1E2B48"/>
          </a:solidFill>
          <a:ln w="12700">
            <a:solidFill>
              <a:srgbClr val="1E2B4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27203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5146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risk meter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and flow combine into one clear score.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457200" y="3611880"/>
            <a:ext cx="640080" cy="640080"/>
          </a:xfrm>
          <a:prstGeom prst="ellipse">
            <a:avLst/>
          </a:prstGeom>
          <a:solidFill>
            <a:srgbClr val="1E2B48"/>
          </a:solidFill>
          <a:ln w="12700">
            <a:solidFill>
              <a:srgbClr val="1E2B48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377190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35661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 are alerted before a crush forms.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5760720" y="457200"/>
            <a:ext cx="2651760" cy="4160520"/>
          </a:xfrm>
          <a:prstGeom prst="roundRect">
            <a:avLst>
              <a:gd name="adj" fmla="val 8621"/>
            </a:avLst>
          </a:prstGeom>
          <a:solidFill>
            <a:srgbClr val="0F1830"/>
          </a:solidFill>
          <a:ln w="25400">
            <a:solidFill>
              <a:srgbClr val="F5A524"/>
            </a:solidFill>
            <a:prstDash val="solid"/>
          </a:ln>
        </p:spPr>
      </p:sp>
      <p:pic>
        <p:nvPicPr>
          <p:cNvPr id="14" name="Image 3" descr="/home/claude/v2_scanner_reala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566928"/>
            <a:ext cx="2432304" cy="394106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760720" y="4645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detection on real crowd footage — not synthetic data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1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works, today vs. the Finale build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502920" cy="54864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463040"/>
            <a:ext cx="1463040" cy="2468880"/>
          </a:xfrm>
          <a:prstGeom prst="roundRect">
            <a:avLst>
              <a:gd name="adj" fmla="val 7500"/>
            </a:avLst>
          </a:prstGeom>
          <a:solidFill>
            <a:srgbClr val="141E33"/>
          </a:solidFill>
          <a:ln w="12700">
            <a:solidFill>
              <a:srgbClr val="141E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727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45820" y="1851660"/>
            <a:ext cx="685800" cy="685800"/>
          </a:xfrm>
          <a:prstGeom prst="ellipse">
            <a:avLst/>
          </a:prstGeom>
          <a:solidFill>
            <a:srgbClr val="1E2B48"/>
          </a:solidFill>
          <a:ln w="12700">
            <a:solidFill>
              <a:srgbClr val="1E2B4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023110"/>
            <a:ext cx="342900" cy="342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6928" y="274320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3108960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 from the phone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148840" y="1463040"/>
            <a:ext cx="1463040" cy="2468880"/>
          </a:xfrm>
          <a:prstGeom prst="roundRect">
            <a:avLst>
              <a:gd name="adj" fmla="val 7500"/>
            </a:avLst>
          </a:prstGeom>
          <a:solidFill>
            <a:srgbClr val="141E33"/>
          </a:solidFill>
          <a:ln w="12700">
            <a:solidFill>
              <a:srgbClr val="141E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86000" y="15727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537460" y="1851660"/>
            <a:ext cx="685800" cy="685800"/>
          </a:xfrm>
          <a:prstGeom prst="ellipse">
            <a:avLst/>
          </a:prstGeom>
          <a:solidFill>
            <a:srgbClr val="1E2B48"/>
          </a:solidFill>
          <a:ln w="12700">
            <a:solidFill>
              <a:srgbClr val="1E2B4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910" y="202311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258568" y="274320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2258568" y="3108960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TensorFlow.js (COCO-SSD) runs on-device, in-browser, over WebGL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840480" y="1463040"/>
            <a:ext cx="1463040" cy="2468880"/>
          </a:xfrm>
          <a:prstGeom prst="roundRect">
            <a:avLst>
              <a:gd name="adj" fmla="val 7500"/>
            </a:avLst>
          </a:prstGeom>
          <a:solidFill>
            <a:srgbClr val="141E33"/>
          </a:solidFill>
          <a:ln w="12700">
            <a:solidFill>
              <a:srgbClr val="141E33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977640" y="15727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229100" y="1851660"/>
            <a:ext cx="685800" cy="685800"/>
          </a:xfrm>
          <a:prstGeom prst="ellipse">
            <a:avLst/>
          </a:prstGeom>
          <a:solidFill>
            <a:srgbClr val="1E2B48"/>
          </a:solidFill>
          <a:ln w="12700">
            <a:solidFill>
              <a:srgbClr val="1E2B4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50" y="2023110"/>
            <a:ext cx="342900" cy="3429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950208" y="274320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3950208" y="3108960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+ flow become a 0-100 risk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532120" y="1463040"/>
            <a:ext cx="1463040" cy="2468880"/>
          </a:xfrm>
          <a:prstGeom prst="roundRect">
            <a:avLst>
              <a:gd name="adj" fmla="val 7500"/>
            </a:avLst>
          </a:prstGeom>
          <a:solidFill>
            <a:srgbClr val="141E33"/>
          </a:solidFill>
          <a:ln w="12700">
            <a:solidFill>
              <a:srgbClr val="141E33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669280" y="15727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5920740" y="1851660"/>
            <a:ext cx="685800" cy="685800"/>
          </a:xfrm>
          <a:prstGeom prst="ellipse">
            <a:avLst/>
          </a:prstGeom>
          <a:solidFill>
            <a:srgbClr val="1E2B48"/>
          </a:solidFill>
          <a:ln w="12700">
            <a:solidFill>
              <a:srgbClr val="1E2B48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190" y="2023110"/>
            <a:ext cx="342900" cy="3429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641848" y="274320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5641848" y="3108960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typed Alert object is created, with TTL + dedup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7223760" y="1463040"/>
            <a:ext cx="1463040" cy="2468880"/>
          </a:xfrm>
          <a:prstGeom prst="roundRect">
            <a:avLst>
              <a:gd name="adj" fmla="val 7500"/>
            </a:avLst>
          </a:prstGeom>
          <a:solidFill>
            <a:srgbClr val="141E33"/>
          </a:solidFill>
          <a:ln w="12700">
            <a:solidFill>
              <a:srgbClr val="141E33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360920" y="15727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7612380" y="1851660"/>
            <a:ext cx="685800" cy="685800"/>
          </a:xfrm>
          <a:prstGeom prst="ellipse">
            <a:avLst/>
          </a:prstGeom>
          <a:solidFill>
            <a:srgbClr val="1E2B48"/>
          </a:solidFill>
          <a:ln w="12700">
            <a:solidFill>
              <a:srgbClr val="1E2B48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3830" y="2023110"/>
            <a:ext cx="342900" cy="3429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333488" y="274320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7333488" y="3108960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 same-device; native phone-to-phone at the Finale</a:t>
            </a:r>
            <a:endParaRPr lang="en-US" sz="1050" dirty="0"/>
          </a:p>
        </p:txBody>
      </p:sp>
      <p:sp>
        <p:nvSpPr>
          <p:cNvPr id="34" name="Text 27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real on-device detection, in a web prototype. Finale: ported to native Android + Nearby Connections for true phone-to-phone offline relay.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1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Relay engine — real code, local sim today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502920" cy="54864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hop bounds, packet dedup and a live node list are real and working. The transport shown here is a same-device simulation; true phone-to-phone hops ship at the Finale.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691640" y="1627632"/>
            <a:ext cx="5760720" cy="3063240"/>
          </a:xfrm>
          <a:prstGeom prst="roundRect">
            <a:avLst>
              <a:gd name="adj" fmla="val 4478"/>
            </a:avLst>
          </a:prstGeom>
          <a:solidFill>
            <a:srgbClr val="0F1830"/>
          </a:solidFill>
          <a:ln w="25400">
            <a:solidFill>
              <a:srgbClr val="F5A524"/>
            </a:solidFill>
            <a:prstDash val="solid"/>
          </a:ln>
        </p:spPr>
      </p:sp>
      <p:pic>
        <p:nvPicPr>
          <p:cNvPr id="6" name="Image 0" descr="/home/claude/v2_re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1368" y="1737360"/>
            <a:ext cx="5541264" cy="28437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relay engine + telemetry UI verified same-device. Finale: Android Nearby Connections, two real phones, one offline.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1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gets the alert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502920" cy="54864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141E33"/>
          </a:solidFill>
          <a:ln w="12700">
            <a:solidFill>
              <a:srgbClr val="141E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100" y="1508760"/>
            <a:ext cx="594360" cy="594360"/>
          </a:xfrm>
          <a:prstGeom prst="ellipse">
            <a:avLst/>
          </a:prstGeom>
          <a:solidFill>
            <a:srgbClr val="1E2B48"/>
          </a:solidFill>
          <a:ln w="12700">
            <a:solidFill>
              <a:srgbClr val="1E2B4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65735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444752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organizers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risk score, location and photo on their phone.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57200" y="246888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141E33"/>
          </a:solidFill>
          <a:ln w="12700">
            <a:solidFill>
              <a:srgbClr val="141E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0100" y="2606040"/>
            <a:ext cx="594360" cy="594360"/>
          </a:xfrm>
          <a:prstGeom prst="ellipse">
            <a:avLst/>
          </a:prstGeom>
          <a:solidFill>
            <a:srgbClr val="1E2B48"/>
          </a:solidFill>
          <a:ln w="12700">
            <a:solidFill>
              <a:srgbClr val="1E2B4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75463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91640" y="2542032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services (108 / 112)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pre-filled emergency call with the exact location.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457200" y="356616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141E33"/>
          </a:solidFill>
          <a:ln w="12700">
            <a:solidFill>
              <a:srgbClr val="141E3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00100" y="3703320"/>
            <a:ext cx="594360" cy="594360"/>
          </a:xfrm>
          <a:prstGeom prst="ellipse">
            <a:avLst/>
          </a:prstGeom>
          <a:solidFill>
            <a:srgbClr val="1E2B48"/>
          </a:solidFill>
          <a:ln w="12700">
            <a:solidFill>
              <a:srgbClr val="1E2B4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3851910"/>
            <a:ext cx="297180" cy="2971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91640" y="3639312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and nearby volunteers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contacts and nearby app users get the alert and pin.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1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Roadmap: from node to network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502920" cy="54864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141E33"/>
          </a:solidFill>
          <a:ln w="12700">
            <a:solidFill>
              <a:srgbClr val="141E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100" y="1508760"/>
            <a:ext cx="594360" cy="59436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65735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426464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today</a:t>
            </a:r>
            <a:endParaRPr lang="en-US" sz="1550" dirty="0"/>
          </a:p>
          <a:p>
            <a:pPr indent="0" marL="0">
              <a:buNone/>
            </a:pPr>
            <a:r>
              <a:rPr lang="en-US" sz="11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app, one role. A Guardian node (camera, risk meter, SOS) built and demoed.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57200" y="242316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141E33"/>
          </a:solidFill>
          <a:ln w="12700">
            <a:solidFill>
              <a:srgbClr val="141E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0100" y="2560320"/>
            <a:ext cx="594360" cy="594360"/>
          </a:xfrm>
          <a:prstGeom prst="ellipse">
            <a:avLst/>
          </a:prstGeom>
          <a:solidFill>
            <a:srgbClr val="1E2B48"/>
          </a:solidFill>
          <a:ln w="12700">
            <a:solidFill>
              <a:srgbClr val="1E2B4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70891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91640" y="2478024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split by role</a:t>
            </a:r>
            <a:endParaRPr lang="en-US" sz="1550" dirty="0"/>
          </a:p>
          <a:p>
            <a:pPr indent="0" marL="0">
              <a:buNone/>
            </a:pPr>
            <a:r>
              <a:rPr lang="en-US" sz="11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Guardian (node) and Dispatch (organizer) views: a map of zones, live risk per gate, the alert feed with hop/source — no camera needed for Dispatch.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457200" y="347472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141E33"/>
          </a:solidFill>
          <a:ln w="12700">
            <a:solidFill>
              <a:srgbClr val="141E3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00100" y="3611880"/>
            <a:ext cx="594360" cy="594360"/>
          </a:xfrm>
          <a:prstGeom prst="ellipse">
            <a:avLst/>
          </a:prstGeom>
          <a:solidFill>
            <a:srgbClr val="1E2B48"/>
          </a:solidFill>
          <a:ln w="12700">
            <a:solidFill>
              <a:srgbClr val="1E2B4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3760470"/>
            <a:ext cx="297180" cy="2971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91640" y="3529584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bring your own cameras</a:t>
            </a:r>
            <a:endParaRPr lang="en-US" sz="1550" dirty="0"/>
          </a:p>
          <a:p>
            <a:pPr indent="0" marL="0">
              <a:buNone/>
            </a:pPr>
            <a:r>
              <a:rPr lang="en-US" sz="11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detection pipeline reads an RTSP/CCTV feed instead of a phone camera — venues use hardware they already have, no rebuild required.</a:t>
            </a:r>
            <a:endParaRPr lang="en-US" sz="155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is what we built and demo today. Phases 2-3 are the near-term extension, not a rebuild — same detection pipeline, new input/output.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1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vs. the Finale build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502920" cy="54864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4023360" cy="2606040"/>
          </a:xfrm>
          <a:prstGeom prst="roundRect">
            <a:avLst>
              <a:gd name="adj" fmla="val 4211"/>
            </a:avLst>
          </a:prstGeom>
          <a:solidFill>
            <a:srgbClr val="141E33"/>
          </a:solidFill>
          <a:ln w="12700">
            <a:solidFill>
              <a:srgbClr val="141E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8660" y="1577340"/>
            <a:ext cx="594360" cy="594360"/>
          </a:xfrm>
          <a:prstGeom prst="ellipse">
            <a:avLst/>
          </a:prstGeom>
          <a:solidFill>
            <a:srgbClr val="1E2B48"/>
          </a:solidFill>
          <a:ln w="12700">
            <a:solidFill>
              <a:srgbClr val="1E2B4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2593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57276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today (web prototype)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on-device detection: TF.js + COCO-SSD over WebGL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engine: typed alerts, TTL, dedup — all working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verified same-device (browser tabs)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4023360" cy="2606040"/>
          </a:xfrm>
          <a:prstGeom prst="roundRect">
            <a:avLst>
              <a:gd name="adj" fmla="val 4211"/>
            </a:avLst>
          </a:prstGeom>
          <a:solidFill>
            <a:srgbClr val="141E33"/>
          </a:solidFill>
          <a:ln w="12700">
            <a:solidFill>
              <a:srgbClr val="141E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14900" y="1577340"/>
            <a:ext cx="594360" cy="594360"/>
          </a:xfrm>
          <a:prstGeom prst="ellipse">
            <a:avLst/>
          </a:prstGeom>
          <a:solidFill>
            <a:srgbClr val="1E2B48"/>
          </a:solidFill>
          <a:ln w="12700">
            <a:solidFill>
              <a:srgbClr val="1E2B4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490" y="172593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57276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Finale: Red Light (phone only)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983480" y="242316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detection to TFLite, run on the Snapdragon NPU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Nearby Connections for real phone-to-phone hops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2-3 iQOO phones, one offline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on: phone-first execution, AI integration, Office Kit, real-world relevance, pitch.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1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views, one app: Guardian + Dispatch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502920" cy="54864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volunteer at a gate sees only their node. An organizer sees the aggregate — venue density, active incidents, and a chokepoint focus across zones. Names, counts and incidents are demo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0" y="1691640"/>
            <a:ext cx="2606040" cy="2743200"/>
          </a:xfrm>
          <a:prstGeom prst="roundRect">
            <a:avLst>
              <a:gd name="adj" fmla="val 8772"/>
            </a:avLst>
          </a:prstGeom>
          <a:solidFill>
            <a:srgbClr val="0F1830"/>
          </a:solidFill>
          <a:ln w="25400">
            <a:solidFill>
              <a:srgbClr val="F5A524"/>
            </a:solidFill>
            <a:prstDash val="solid"/>
          </a:ln>
        </p:spPr>
      </p:sp>
      <p:pic>
        <p:nvPicPr>
          <p:cNvPr id="6" name="Image 0" descr="/home/claude/v2_o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8528" y="1801368"/>
            <a:ext cx="2386584" cy="2523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44988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Control Room — Dispatch view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691640"/>
            <a:ext cx="2606040" cy="2743200"/>
          </a:xfrm>
          <a:prstGeom prst="roundRect">
            <a:avLst>
              <a:gd name="adj" fmla="val 8772"/>
            </a:avLst>
          </a:prstGeom>
          <a:solidFill>
            <a:srgbClr val="0F1830"/>
          </a:solidFill>
          <a:ln w="25400">
            <a:solidFill>
              <a:srgbClr val="F5A524"/>
            </a:solidFill>
            <a:prstDash val="solid"/>
          </a:ln>
        </p:spPr>
      </p:sp>
      <p:pic>
        <p:nvPicPr>
          <p:cNvPr id="9" name="Image 1" descr="/home/claude/v2_s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801368"/>
            <a:ext cx="2386584" cy="2523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63440" y="44988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node — SOS / Theft / Medical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1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hours: what we ship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502920" cy="54864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141E33"/>
          </a:solidFill>
          <a:ln w="12700">
            <a:solidFill>
              <a:srgbClr val="141E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0-12h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+ meter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counting and a live risk score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141E33"/>
          </a:solidFill>
          <a:ln w="12700">
            <a:solidFill>
              <a:srgbClr val="141E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12-30h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relay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3774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Two-phone SOS hop working end to end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141E33"/>
          </a:solidFill>
          <a:ln w="12700">
            <a:solidFill>
              <a:srgbClr val="141E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30-42h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+ first aid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3774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photo and a voice-guided first-aid card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137160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141E33"/>
          </a:solidFill>
          <a:ln w="12700">
            <a:solidFill>
              <a:srgbClr val="141E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42-48h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+ pitch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23774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rehearsal, backup video, final deck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703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A9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Festival Guardian: predict, respond, relay.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Festival Guardian</dc:title>
  <dc:subject>PptxGenJS Presentation</dc:subject>
  <dc:creator>PptxGenJS</dc:creator>
  <cp:lastModifiedBy>PptxGenJS</cp:lastModifiedBy>
  <cp:revision>1</cp:revision>
  <dcterms:created xsi:type="dcterms:W3CDTF">2026-10-05T17:09:12Z</dcterms:created>
  <dcterms:modified xsi:type="dcterms:W3CDTF">2026-10-05T17:09:12Z</dcterms:modified>
</cp:coreProperties>
</file>