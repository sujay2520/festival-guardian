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AA9C2"/>
                </a:solidFill>
                <a:latin typeface="Calibri"/>
              </a:defRPr>
            </a:pPr>
            <a:r>
              <a:t>iQOO HACKATHON 2026  ·  GRAND FINALE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91440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600" b="1">
                <a:solidFill>
                  <a:srgbClr val="F1F4FA"/>
                </a:solidFill>
                <a:latin typeface="Cambria"/>
              </a:defRPr>
            </a:pPr>
            <a:r>
              <a:t>Festival Guardian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i="1">
                <a:solidFill>
                  <a:srgbClr val="F5A524"/>
                </a:solidFill>
                <a:latin typeface="Cambria"/>
              </a:defRPr>
            </a:pPr>
            <a:r>
              <a:t>Predict. Respond. Relay.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8229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9AA9C2"/>
                </a:solidFill>
                <a:latin typeface="Calibri"/>
              </a:defRPr>
            </a:pPr>
            <a:r>
              <a:t>Point your phone at a crowd and get a live stampede-risk score. If the network jams, alerts hop from phone to phone.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8686800" cy="27432"/>
          </a:xfrm>
          <a:prstGeom prst="roundRect">
            <a:avLst/>
          </a:prstGeom>
          <a:solidFill>
            <a:srgbClr val="141E33"/>
          </a:solidFill>
          <a:ln>
            <a:solidFill>
              <a:srgbClr val="141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A524"/>
                </a:solidFill>
                <a:latin typeface="Calibri"/>
              </a:defRPr>
            </a:pPr>
            <a:r>
              <a:t>TEAM FALLING STARS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120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1F4FA"/>
                </a:solidFill>
                <a:latin typeface="Calibri"/>
              </a:defRPr>
            </a:pPr>
            <a:r>
              <a:t>Poornachandra P M   ·   Dushyanth M   ·   M Sujay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1F4FA"/>
                </a:solidFill>
                <a:latin typeface="Cambria"/>
              </a:defRPr>
            </a:pPr>
            <a:r>
              <a:t>Crowds turn deadly in minutes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731520" cy="54864"/>
          </a:xfrm>
          <a:prstGeom prst="roundRect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3657600"/>
          </a:xfrm>
          <a:prstGeom prst="roundRect">
            <a:avLst/>
          </a:prstGeom>
          <a:solidFill>
            <a:srgbClr val="141E33"/>
          </a:solidFill>
          <a:ln>
            <a:solidFill>
              <a:srgbClr val="141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1945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1F4FA"/>
                </a:solidFill>
                <a:latin typeface="Calibri"/>
              </a:defRPr>
            </a:pPr>
            <a:r>
              <a:t>Nobody sees it building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10896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9AA9C2"/>
                </a:solidFill>
                <a:latin typeface="Calibri"/>
              </a:defRPr>
            </a:pPr>
            <a:r>
              <a:t>Density rises gradually. By the time it feels dangerous, exits are already blocked.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383280" cy="3657600"/>
          </a:xfrm>
          <a:prstGeom prst="roundRect">
            <a:avLst/>
          </a:prstGeom>
          <a:solidFill>
            <a:srgbClr val="141E33"/>
          </a:solidFill>
          <a:ln>
            <a:solidFill>
              <a:srgbClr val="141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59" y="21945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1F4FA"/>
                </a:solidFill>
                <a:latin typeface="Calibri"/>
              </a:defRPr>
            </a:pPr>
            <a:r>
              <a:t>Networks fail at peak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59" y="310896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9AA9C2"/>
                </a:solidFill>
                <a:latin typeface="Calibri"/>
              </a:defRPr>
            </a:pPr>
            <a:r>
              <a:t>Thousands of phones in one spot overload towers, so calls and messages fail.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828800"/>
            <a:ext cx="3383280" cy="3657600"/>
          </a:xfrm>
          <a:prstGeom prst="roundRect">
            <a:avLst/>
          </a:prstGeom>
          <a:solidFill>
            <a:srgbClr val="141E33"/>
          </a:solidFill>
          <a:ln>
            <a:solidFill>
              <a:srgbClr val="141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21945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1F4FA"/>
                </a:solidFill>
                <a:latin typeface="Calibri"/>
              </a:defRPr>
            </a:pPr>
            <a:r>
              <a:t>Help arrives late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310896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9AA9C2"/>
                </a:solidFill>
                <a:latin typeface="Calibri"/>
              </a:defRPr>
            </a:pPr>
            <a:r>
              <a:t>Organizers get no early signal and no location, so response starts after the crush.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F5A524"/>
                </a:solidFill>
                <a:latin typeface="Calibri"/>
              </a:defRPr>
            </a:pPr>
            <a:r>
              <a:t>Festival grounds, temple queues, railway platforms.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1F4FA"/>
                </a:solidFill>
                <a:latin typeface="Cambria"/>
              </a:defRPr>
            </a:pPr>
            <a:r>
              <a:t>Point. Read. Warn.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731520" cy="54864"/>
          </a:xfrm>
          <a:prstGeom prst="roundRect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6217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1F4FA"/>
                </a:solidFill>
                <a:latin typeface="Calibri"/>
              </a:defRPr>
            </a:pPr>
            <a:r>
              <a:t>Point the camera</a:t>
            </a:r>
          </a:p>
          <a:p>
            <a:pPr>
              <a:defRPr sz="1500">
                <a:solidFill>
                  <a:srgbClr val="9AA9C2"/>
                </a:solidFill>
                <a:latin typeface="Calibri"/>
              </a:defRPr>
            </a:pPr>
            <a:r>
              <a:t>Detection runs on the phone's NPU/GPU, with no upload.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6217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1F4FA"/>
                </a:solidFill>
                <a:latin typeface="Calibri"/>
              </a:defRPr>
            </a:pPr>
            <a:r>
              <a:t>Live risk meter</a:t>
            </a:r>
          </a:p>
          <a:p>
            <a:pPr>
              <a:defRPr sz="1500">
                <a:solidFill>
                  <a:srgbClr val="9AA9C2"/>
                </a:solidFill>
                <a:latin typeface="Calibri"/>
              </a:defRPr>
            </a:pPr>
            <a:r>
              <a:t>Density and flow combine into one clear 0–100 risk score.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6217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1F4FA"/>
                </a:solidFill>
                <a:latin typeface="Calibri"/>
              </a:defRPr>
            </a:pPr>
            <a:r>
              <a:t>Early warning</a:t>
            </a:r>
          </a:p>
          <a:p>
            <a:pPr>
              <a:defRPr sz="1500">
                <a:solidFill>
                  <a:srgbClr val="9AA9C2"/>
                </a:solidFill>
                <a:latin typeface="Calibri"/>
              </a:defRPr>
            </a:pPr>
            <a:r>
              <a:t>Organizers are alerted before a crush or stampede forms.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731520"/>
            <a:ext cx="3474720" cy="5394960"/>
          </a:xfrm>
          <a:prstGeom prst="roundRect">
            <a:avLst/>
          </a:prstGeom>
          <a:solidFill>
            <a:srgbClr val="141E33"/>
          </a:solidFill>
          <a:ln w="25400">
            <a:solidFill>
              <a:srgbClr val="F5A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_crowd_risk_ai_me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822960"/>
            <a:ext cx="3291840" cy="5212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0" y="621792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9AA9C2"/>
                </a:solidFill>
                <a:latin typeface="Calibri"/>
              </a:defRPr>
            </a:pPr>
            <a:r>
              <a:t>Actual screenshot — live prototype (demo/test data)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1F4FA"/>
                </a:solidFill>
                <a:latin typeface="Cambria"/>
              </a:defRPr>
            </a:pPr>
            <a:r>
              <a:t>How it works, today vs. the Finale build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731520" cy="54864"/>
          </a:xfrm>
          <a:prstGeom prst="roundRect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011680" cy="3749039"/>
          </a:xfrm>
          <a:prstGeom prst="roundRect">
            <a:avLst/>
          </a:prstGeom>
          <a:solidFill>
            <a:srgbClr val="141E33"/>
          </a:solidFill>
          <a:ln>
            <a:solidFill>
              <a:srgbClr val="141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20240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A524"/>
                </a:solidFill>
                <a:latin typeface="Cambria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5603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1F4FA"/>
                </a:solidFill>
                <a:latin typeface="Calibri"/>
              </a:defRPr>
            </a:pPr>
            <a:r>
              <a:t>Camera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291840"/>
            <a:ext cx="1737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9AA9C2"/>
                </a:solidFill>
                <a:latin typeface="Calibri"/>
              </a:defRPr>
            </a:pPr>
            <a:r>
              <a:t>Live feed from the phone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7791" y="1828800"/>
            <a:ext cx="2011680" cy="3749039"/>
          </a:xfrm>
          <a:prstGeom prst="roundRect">
            <a:avLst/>
          </a:prstGeom>
          <a:solidFill>
            <a:srgbClr val="141E33"/>
          </a:solidFill>
          <a:ln>
            <a:solidFill>
              <a:srgbClr val="141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1" y="1920240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A524"/>
                </a:solidFill>
                <a:latin typeface="Cambria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4951" y="25603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1F4FA"/>
                </a:solidFill>
                <a:latin typeface="Calibri"/>
              </a:defRPr>
            </a:pPr>
            <a:r>
              <a:t>Detect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44951" y="3291840"/>
            <a:ext cx="1737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9AA9C2"/>
                </a:solidFill>
                <a:latin typeface="Calibri"/>
              </a:defRPr>
            </a:pPr>
            <a:r>
              <a:t>TensorFlow.js (COCO-SSD) runs on-device, in-browser, over WebGL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84064" y="1828800"/>
            <a:ext cx="2011680" cy="3749039"/>
          </a:xfrm>
          <a:prstGeom prst="roundRect">
            <a:avLst/>
          </a:prstGeom>
          <a:solidFill>
            <a:srgbClr val="141E33"/>
          </a:solidFill>
          <a:ln>
            <a:solidFill>
              <a:srgbClr val="141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21224" y="1920240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A524"/>
                </a:solidFill>
                <a:latin typeface="Cambria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21224" y="25603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1F4FA"/>
                </a:solidFill>
                <a:latin typeface="Calibri"/>
              </a:defRPr>
            </a:pPr>
            <a:r>
              <a:t>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21224" y="3291840"/>
            <a:ext cx="1737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9AA9C2"/>
                </a:solidFill>
                <a:latin typeface="Calibri"/>
              </a:defRPr>
            </a:pPr>
            <a:r>
              <a:t>Density + flow become a 0-100 risk score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60336" y="1828800"/>
            <a:ext cx="2011680" cy="3749039"/>
          </a:xfrm>
          <a:prstGeom prst="roundRect">
            <a:avLst/>
          </a:prstGeom>
          <a:solidFill>
            <a:srgbClr val="141E33"/>
          </a:solidFill>
          <a:ln>
            <a:solidFill>
              <a:srgbClr val="141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97496" y="1920240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A524"/>
                </a:solidFill>
                <a:latin typeface="Cambria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97496" y="25603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1F4FA"/>
                </a:solidFill>
                <a:latin typeface="Calibri"/>
              </a:defRPr>
            </a:pPr>
            <a:r>
              <a:t>Alert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97496" y="3291840"/>
            <a:ext cx="1737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9AA9C2"/>
                </a:solidFill>
                <a:latin typeface="Calibri"/>
              </a:defRPr>
            </a:pPr>
            <a:r>
              <a:t>A typed Alert object is created, with TTL + dedup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36608" y="1828800"/>
            <a:ext cx="2011680" cy="3749039"/>
          </a:xfrm>
          <a:prstGeom prst="roundRect">
            <a:avLst/>
          </a:prstGeom>
          <a:solidFill>
            <a:srgbClr val="141E33"/>
          </a:solidFill>
          <a:ln>
            <a:solidFill>
              <a:srgbClr val="141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73768" y="1920240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A524"/>
                </a:solidFill>
                <a:latin typeface="Cambria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73768" y="25603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1F4FA"/>
                </a:solidFill>
                <a:latin typeface="Calibri"/>
              </a:defRPr>
            </a:pPr>
            <a:r>
              <a:t>Relay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73768" y="3291840"/>
            <a:ext cx="1737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9AA9C2"/>
                </a:solidFill>
                <a:latin typeface="Calibri"/>
              </a:defRPr>
            </a:pPr>
            <a:r>
              <a:t>Working today same-device; native phone-to-phone at the Finale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852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F5A524"/>
                </a:solidFill>
                <a:latin typeface="Calibri"/>
              </a:defRPr>
            </a:pPr>
            <a:r>
              <a:t>Today: real on-device detection, in a web prototype. Finale: ported to native Android + Nearby Connections for true phone-to-phone offline relay.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1F4FA"/>
                </a:solidFill>
                <a:latin typeface="Cambria"/>
              </a:defRPr>
            </a:pPr>
            <a:r>
              <a:t>Offline SOS relay — the Finale target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731520" cy="54864"/>
          </a:xfrm>
          <a:prstGeom prst="roundRect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AA9C2"/>
                </a:solidFill>
                <a:latin typeface="Calibri"/>
              </a:defRPr>
            </a:pPr>
            <a:r>
              <a:t>No network? Alerts hop from phone to phone until one reaches a connection. The relay logic (TTL, dedup, typed alerts) is built; the phone-to-phone hop is the Finale build.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26080"/>
            <a:ext cx="2286000" cy="2011680"/>
          </a:xfrm>
          <a:prstGeom prst="roundRect">
            <a:avLst/>
          </a:prstGeom>
          <a:solidFill>
            <a:srgbClr val="F5A524"/>
          </a:solidFill>
          <a:ln w="19050">
            <a:solidFill>
              <a:srgbClr val="F5A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4747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B1220"/>
                </a:solidFill>
                <a:latin typeface="Calibri"/>
              </a:defRPr>
            </a:pPr>
            <a:r>
              <a:t>Person in the crowd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063239" y="3749039"/>
            <a:ext cx="320040" cy="274320"/>
          </a:xfrm>
          <a:prstGeom prst="rightArrow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29000" y="2926080"/>
            <a:ext cx="2286000" cy="201168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F5A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34747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1F4FA"/>
                </a:solidFill>
                <a:latin typeface="Calibri"/>
              </a:defRPr>
            </a:pPr>
            <a:r>
              <a:t>Nearby phone (Hop 1)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760720" y="3749039"/>
            <a:ext cx="320040" cy="274320"/>
          </a:xfrm>
          <a:prstGeom prst="rightArrow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26480" y="2926080"/>
            <a:ext cx="2286000" cy="201168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F5A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34747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1F4FA"/>
                </a:solidFill>
                <a:latin typeface="Calibri"/>
              </a:defRPr>
            </a:pPr>
            <a:r>
              <a:t>Nearby phone (Hop 2)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458200" y="3749039"/>
            <a:ext cx="320040" cy="274320"/>
          </a:xfrm>
          <a:prstGeom prst="rightArrow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823960" y="2926080"/>
            <a:ext cx="2286000" cy="201168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F5A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15400" y="34747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1F4FA"/>
                </a:solidFill>
                <a:latin typeface="Calibri"/>
              </a:defRPr>
            </a:pPr>
            <a:r>
              <a:t>Volunteer with signal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7607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F5A524"/>
                </a:solidFill>
                <a:latin typeface="Calibri"/>
              </a:defRPr>
            </a:pPr>
            <a:r>
              <a:t>Today: relay engine verified across browser tabs (same device). Finale: Android Nearby Connections, two real phones, one offline.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1F4FA"/>
                </a:solidFill>
                <a:latin typeface="Cambria"/>
              </a:defRPr>
            </a:pPr>
            <a:r>
              <a:t>Who gets the alert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731520" cy="54864"/>
          </a:xfrm>
          <a:prstGeom prst="roundRect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698480" cy="1051560"/>
          </a:xfrm>
          <a:prstGeom prst="roundRect">
            <a:avLst/>
          </a:prstGeom>
          <a:solidFill>
            <a:srgbClr val="141E33"/>
          </a:solidFill>
          <a:ln>
            <a:solidFill>
              <a:srgbClr val="141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65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1F4FA"/>
                </a:solidFill>
                <a:latin typeface="Calibri"/>
              </a:defRPr>
            </a:pPr>
            <a:r>
              <a:t>Event organizers</a:t>
            </a:r>
          </a:p>
          <a:p>
            <a:pPr>
              <a:defRPr sz="1400">
                <a:solidFill>
                  <a:srgbClr val="9AA9C2"/>
                </a:solidFill>
                <a:latin typeface="Calibri"/>
              </a:defRPr>
            </a:pPr>
            <a:r>
              <a:t>Live risk score, location and photo on their phone.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08960"/>
            <a:ext cx="10698480" cy="1051560"/>
          </a:xfrm>
          <a:prstGeom prst="roundRect">
            <a:avLst/>
          </a:prstGeom>
          <a:solidFill>
            <a:srgbClr val="141E33"/>
          </a:solidFill>
          <a:ln>
            <a:solidFill>
              <a:srgbClr val="141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246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1F4FA"/>
                </a:solidFill>
                <a:latin typeface="Calibri"/>
              </a:defRPr>
            </a:pPr>
            <a:r>
              <a:t>Emergency services (108 / 112)</a:t>
            </a:r>
          </a:p>
          <a:p>
            <a:pPr>
              <a:defRPr sz="1400">
                <a:solidFill>
                  <a:srgbClr val="9AA9C2"/>
                </a:solidFill>
                <a:latin typeface="Calibri"/>
              </a:defRPr>
            </a:pPr>
            <a:r>
              <a:t>A pre-filled emergency call with the exact location and incident type.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389120"/>
            <a:ext cx="10698480" cy="1051560"/>
          </a:xfrm>
          <a:prstGeom prst="roundRect">
            <a:avLst/>
          </a:prstGeom>
          <a:solidFill>
            <a:srgbClr val="141E33"/>
          </a:solidFill>
          <a:ln>
            <a:solidFill>
              <a:srgbClr val="141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526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1F4FA"/>
                </a:solidFill>
                <a:latin typeface="Calibri"/>
              </a:defRPr>
            </a:pPr>
            <a:r>
              <a:t>Family and nearby volunteers</a:t>
            </a:r>
          </a:p>
          <a:p>
            <a:pPr>
              <a:defRPr sz="1400">
                <a:solidFill>
                  <a:srgbClr val="9AA9C2"/>
                </a:solidFill>
                <a:latin typeface="Calibri"/>
              </a:defRPr>
            </a:pPr>
            <a:r>
              <a:t>Trusted contacts and nearby app users get the alert pin and guidance.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1F4FA"/>
                </a:solidFill>
                <a:latin typeface="Cambria"/>
              </a:defRPr>
            </a:pPr>
            <a:r>
              <a:t>Today vs. the Finale build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731520" cy="54864"/>
          </a:xfrm>
          <a:prstGeom prst="roundRect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3840480"/>
          </a:xfrm>
          <a:prstGeom prst="roundRect">
            <a:avLst/>
          </a:prstGeom>
          <a:solidFill>
            <a:srgbClr val="141E33"/>
          </a:solidFill>
          <a:ln>
            <a:solidFill>
              <a:srgbClr val="141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389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1F4FA"/>
                </a:solidFill>
                <a:latin typeface="Calibri"/>
              </a:defRPr>
            </a:pPr>
            <a:r>
              <a:t>Built today (web prototype)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43891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9AA9C2"/>
                </a:solidFill>
                <a:latin typeface="Calibri"/>
              </a:defRPr>
            </a:pPr>
            <a:r>
              <a:t>•  Real on-device detection: TF.js + COCO-SSD over WebGL</a:t>
            </a:r>
          </a:p>
          <a:p>
            <a:pPr>
              <a:spcAft>
                <a:spcPts val="1400"/>
              </a:spcAft>
              <a:defRPr sz="1500">
                <a:solidFill>
                  <a:srgbClr val="9AA9C2"/>
                </a:solidFill>
                <a:latin typeface="Calibri"/>
              </a:defRPr>
            </a:pPr>
            <a:r>
              <a:t>•  Alert engine: typed alerts, TTL, dedup — all working</a:t>
            </a:r>
          </a:p>
          <a:p>
            <a:pPr>
              <a:spcAft>
                <a:spcPts val="1400"/>
              </a:spcAft>
              <a:defRPr sz="1500">
                <a:solidFill>
                  <a:srgbClr val="9AA9C2"/>
                </a:solidFill>
                <a:latin typeface="Calibri"/>
              </a:defRPr>
            </a:pPr>
            <a:r>
              <a:t>•  Relay verified same-device (browser tabs)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120640" cy="3840480"/>
          </a:xfrm>
          <a:prstGeom prst="roundRect">
            <a:avLst/>
          </a:prstGeom>
          <a:solidFill>
            <a:srgbClr val="141E33"/>
          </a:solidFill>
          <a:ln>
            <a:solidFill>
              <a:srgbClr val="141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2103120"/>
            <a:ext cx="4389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1F4FA"/>
                </a:solidFill>
                <a:latin typeface="Calibri"/>
              </a:defRPr>
            </a:pPr>
            <a:r>
              <a:t>Finale: Red Light (phone only)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926080"/>
            <a:ext cx="43891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9AA9C2"/>
                </a:solidFill>
                <a:latin typeface="Calibri"/>
              </a:defRPr>
            </a:pPr>
            <a:r>
              <a:t>•  Port detection to TFLite, run on the Snapdragon NPU</a:t>
            </a:r>
          </a:p>
          <a:p>
            <a:pPr>
              <a:spcAft>
                <a:spcPts val="1400"/>
              </a:spcAft>
              <a:defRPr sz="1500">
                <a:solidFill>
                  <a:srgbClr val="9AA9C2"/>
                </a:solidFill>
                <a:latin typeface="Calibri"/>
              </a:defRPr>
            </a:pPr>
            <a:r>
              <a:t>•  Android Nearby Connections for real phone-to-phone hops</a:t>
            </a:r>
          </a:p>
          <a:p>
            <a:pPr>
              <a:spcAft>
                <a:spcPts val="1400"/>
              </a:spcAft>
              <a:defRPr sz="1500">
                <a:solidFill>
                  <a:srgbClr val="9AA9C2"/>
                </a:solidFill>
                <a:latin typeface="Calibri"/>
              </a:defRPr>
            </a:pPr>
            <a:r>
              <a:t>•  Live demo: 2-3 iQOO phones, one offline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F5A524"/>
                </a:solidFill>
                <a:latin typeface="Calibri"/>
              </a:defRPr>
            </a:pPr>
            <a:r>
              <a:t>Scored on: phone-first execution, AI integration, Office Kit, real-world relevance, pitch.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1F4FA"/>
                </a:solidFill>
                <a:latin typeface="Cambria"/>
              </a:defRPr>
            </a:pPr>
            <a:r>
              <a:t>Live prototype — not a mockup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731520" cy="54864"/>
          </a:xfrm>
          <a:prstGeom prst="roundRect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AA9C2"/>
                </a:solidFill>
                <a:latin typeface="Calibri"/>
              </a:defRPr>
            </a:pPr>
            <a:r>
              <a:t>Actual screenshots from the working web prototype. Names, coordinates and counts are demo/test data. Mesh peers shown are seeded for the UI; live device-to-device relay is the Finale build.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94560" y="2194560"/>
            <a:ext cx="3474720" cy="384048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F5A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2_sos_and_al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286000"/>
            <a:ext cx="329184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194560" y="612648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1F4FA"/>
                </a:solidFill>
                <a:latin typeface="Calibri"/>
              </a:defRPr>
            </a:pPr>
            <a:r>
              <a:t>SOS, theft &amp; volunteer alerts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194560"/>
            <a:ext cx="3474720" cy="3840480"/>
          </a:xfrm>
          <a:prstGeom prst="roundRect">
            <a:avLst/>
          </a:prstGeom>
          <a:solidFill>
            <a:srgbClr val="141E33"/>
          </a:solidFill>
          <a:ln w="19050">
            <a:solidFill>
              <a:srgbClr val="F5A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3_mesh_relay_net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286000"/>
            <a:ext cx="3291840" cy="3657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0" y="612648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1F4FA"/>
                </a:solidFill>
                <a:latin typeface="Calibri"/>
              </a:defRPr>
            </a:pPr>
            <a:r>
              <a:t>Mesh network — connected peers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1F4FA"/>
                </a:solidFill>
                <a:latin typeface="Cambria"/>
              </a:defRPr>
            </a:pPr>
            <a:r>
              <a:t>48 hours: what we ship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731520" cy="54864"/>
          </a:xfrm>
          <a:prstGeom prst="roundRect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468880" cy="2743200"/>
          </a:xfrm>
          <a:prstGeom prst="roundRect">
            <a:avLst/>
          </a:prstGeom>
          <a:solidFill>
            <a:srgbClr val="141E33"/>
          </a:solidFill>
          <a:ln>
            <a:solidFill>
              <a:srgbClr val="141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A524"/>
                </a:solidFill>
                <a:latin typeface="Cambria"/>
              </a:defRPr>
            </a:pPr>
            <a:r>
              <a:t>0-12h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1F4FA"/>
                </a:solidFill>
                <a:latin typeface="Calibri"/>
              </a:defRPr>
            </a:pPr>
            <a:r>
              <a:t>Detection + 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AA9C2"/>
                </a:solidFill>
                <a:latin typeface="Calibri"/>
              </a:defRPr>
            </a:pPr>
            <a:r>
              <a:t>On-device counting and a live risk score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828800"/>
            <a:ext cx="2468880" cy="2743200"/>
          </a:xfrm>
          <a:prstGeom prst="roundRect">
            <a:avLst/>
          </a:prstGeom>
          <a:solidFill>
            <a:srgbClr val="141E33"/>
          </a:solidFill>
          <a:ln>
            <a:solidFill>
              <a:srgbClr val="141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201168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A524"/>
                </a:solidFill>
                <a:latin typeface="Cambria"/>
              </a:defRPr>
            </a:pPr>
            <a:r>
              <a:t>12-30h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560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1F4FA"/>
                </a:solidFill>
                <a:latin typeface="Calibri"/>
              </a:defRPr>
            </a:pPr>
            <a:r>
              <a:t>Offline relay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320040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AA9C2"/>
                </a:solidFill>
                <a:latin typeface="Calibri"/>
              </a:defRPr>
            </a:pPr>
            <a:r>
              <a:t>Two-phone SOS hop working end to end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828800"/>
            <a:ext cx="2468880" cy="2743200"/>
          </a:xfrm>
          <a:prstGeom prst="roundRect">
            <a:avLst/>
          </a:prstGeom>
          <a:solidFill>
            <a:srgbClr val="141E33"/>
          </a:solidFill>
          <a:ln>
            <a:solidFill>
              <a:srgbClr val="141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01168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A524"/>
                </a:solidFill>
                <a:latin typeface="Cambria"/>
              </a:defRPr>
            </a:pPr>
            <a:r>
              <a:t>30-42h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560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1F4FA"/>
                </a:solidFill>
                <a:latin typeface="Calibri"/>
              </a:defRPr>
            </a:pPr>
            <a:r>
              <a:t>Alerts + first aid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20040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AA9C2"/>
                </a:solidFill>
                <a:latin typeface="Calibri"/>
              </a:defRPr>
            </a:pPr>
            <a:r>
              <a:t>Location, photo and a voice-guided first-aid card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1828800"/>
            <a:ext cx="2468880" cy="2743200"/>
          </a:xfrm>
          <a:prstGeom prst="roundRect">
            <a:avLst/>
          </a:prstGeom>
          <a:solidFill>
            <a:srgbClr val="141E33"/>
          </a:solidFill>
          <a:ln>
            <a:solidFill>
              <a:srgbClr val="141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6840" y="201168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A524"/>
                </a:solidFill>
                <a:latin typeface="Cambria"/>
              </a:defRPr>
            </a:pPr>
            <a:r>
              <a:t>42-48h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2560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1F4FA"/>
                </a:solidFill>
                <a:latin typeface="Calibri"/>
              </a:defRPr>
            </a:pPr>
            <a:r>
              <a:t>Polish + pitch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320040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AA9C2"/>
                </a:solidFill>
                <a:latin typeface="Calibri"/>
              </a:defRPr>
            </a:pPr>
            <a:r>
              <a:t>Demo rehearsal, backup video, final deck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846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9AA9C2"/>
                </a:solidFill>
                <a:latin typeface="Cambria"/>
              </a:defRPr>
            </a:pPr>
            <a:r>
              <a:t>Festival Guardian: predict, respond, relay.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3949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5A524"/>
                </a:solidFill>
                <a:latin typeface="Cambria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