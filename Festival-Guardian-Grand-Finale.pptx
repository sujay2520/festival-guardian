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600"/>
                </a:solidFill>
              </a:defRPr>
            </a:pPr>
            <a:r>
              <a:t>iQOO HACKATHON 2026  ·  GRAND FINALE APPLICATION</a:t>
            </a:r>
          </a:p>
          <a:p>
            <a:pPr algn="ctr">
              <a:defRPr sz="5600" b="1">
                <a:solidFill>
                  <a:srgbClr val="F5F5F7"/>
                </a:solidFill>
              </a:defRPr>
            </a:pPr>
            <a:r>
              <a:t>FESTIVAL GUARDIAN</a:t>
            </a:r>
          </a:p>
          <a:p>
            <a:pPr algn="ctr">
              <a:defRPr sz="2400" b="1">
                <a:solidFill>
                  <a:srgbClr val="22D3EE"/>
                </a:solidFill>
              </a:defRPr>
            </a:pPr>
            <a:r>
              <a:t>Predict. Respond. Relay.</a:t>
            </a:r>
          </a:p>
          <a:p>
            <a:br/>
            <a:pPr algn="ctr">
              <a:defRPr sz="1500">
                <a:solidFill>
                  <a:srgbClr val="91919B"/>
                </a:solidFill>
              </a:defRPr>
            </a:pPr>
            <a:r>
              <a:t>On-Device Edge AI Crowd Vision &amp; Decentralized Zero-Internet Mesh Safety Platform</a:t>
            </a:r>
            <a:br/>
            <a:r>
              <a:t>Early stampede detection at the gate before deadly shockwaves form.</a:t>
            </a:r>
          </a:p>
          <a:p>
            <a:br/>
            <a:pPr algn="ctr">
              <a:defRPr sz="1300" b="1">
                <a:solidFill>
                  <a:srgbClr val="3D9A72"/>
                </a:solidFill>
              </a:defRPr>
            </a:pPr>
            <a:r>
              <a:t>Live Production URL: https://festival-guardian.vercel.app  ·  Team: Falling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THE PROBLEM: WHY CROWDS TURN DEADLY</a:t>
            </a:r>
          </a:p>
          <a:p>
            <a:pPr>
              <a:defRPr sz="2800" b="1">
                <a:solidFill>
                  <a:srgbClr val="F5F5F7"/>
                </a:solidFill>
              </a:defRPr>
            </a:pPr>
            <a:r>
              <a:t>Mass gatherings create critical blindspots when networks jam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1089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D45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5B4A"/>
                </a:solidFill>
              </a:defRPr>
            </a:pPr>
            <a:r>
              <a:t>1. Gradual Buildup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Crowd density rises silently at turnstiles and bottleneck corridors. By the time security visually spots the crush, egress routes are already physically jammed.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31089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2. Cellular Jamming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Tens of thousands of concurrent attendees overload local cell towers (eNodeB/gNodeB). Emergency phone calls, SMS, and conventional cloud safety apps fail completely.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31089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D3EE"/>
                </a:solidFill>
              </a:defRPr>
            </a:pPr>
            <a:r>
              <a:t>3. The Consumer App Flaw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Expecting panicked attendees trapped in a surging crowd to unlock their phones and type incident reports is impossible. Crowd safety MUST be deployed by staff at the gates.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D3EE"/>
                </a:solidFill>
              </a:defRPr>
            </a:pPr>
            <a:r>
              <a:t>💡 Paradigm Shift: Fixed Guardian Nodes carried by staff at bottlenecks + existing venue CCTV feeds, communicating over zero-internet mesh to central dispatch.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SYSTEM ARCHITECTURE</a:t>
            </a:r>
          </a:p>
          <a:p>
            <a:pPr>
              <a:defRPr sz="2800" b="1">
                <a:solidFill>
                  <a:srgbClr val="F5F5F7"/>
                </a:solidFill>
              </a:defRPr>
            </a:pPr>
            <a:r>
              <a:t>Dual-Persona Operational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011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3D9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D9A72"/>
                </a:solidFill>
              </a:defRPr>
            </a:pPr>
            <a:r>
              <a:t>Gate Marshal / Field Node View</a:t>
            </a:r>
          </a:p>
          <a:p>
            <a:pPr>
              <a:defRPr sz="1200">
                <a:solidFill>
                  <a:srgbClr val="91919B"/>
                </a:solidFill>
              </a:defRPr>
            </a:pPr>
            <a:r>
              <a:t>• Camera feed runs on-device density analysis at 30 FPS</a:t>
            </a:r>
            <a:br/>
            <a:r>
              <a:t>• Live 0-100 risk meter with safe/surge/critical thresholds</a:t>
            </a:r>
            <a:br/>
            <a:r>
              <a:t>• Hold-to-fire 0.8s SOS, Theft report, and Medical First Aid</a:t>
            </a:r>
            <a:br/>
            <a:r>
              <a:t>• Acts as offline mesh router in the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029200" cy="2011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Organizer Command Center (Ops View)</a:t>
            </a:r>
          </a:p>
          <a:p>
            <a:pPr>
              <a:defRPr sz="1200">
                <a:solidFill>
                  <a:srgbClr val="91919B"/>
                </a:solidFill>
              </a:defRPr>
            </a:pPr>
            <a:r>
              <a:t>• Multi-Zone status tracking across 5 strategic venue gates</a:t>
            </a:r>
            <a:br/>
            <a:r>
              <a:t>• Live CCTV / RTSP video ingestion feeds (CAM 01/02/03)</a:t>
            </a:r>
            <a:br/>
            <a:r>
              <a:t>• Incident dispatch queue with signal hop &amp; TTL telemetry</a:t>
            </a:r>
            <a:br/>
            <a:r>
              <a:t>• One-tap volunteer dispatch and crowd advisory broadcast</a:t>
            </a:r>
          </a:p>
        </p:txBody>
      </p:sp>
      <p:pic>
        <p:nvPicPr>
          <p:cNvPr id="7" name="Picture 6" descr="01-scanner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394960" cy="34561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9A72"/>
                </a:solidFill>
              </a:defRPr>
            </a:pPr>
            <a:r>
              <a:t>COMPUTER VISION &amp; CROWD PHYSICS</a:t>
            </a:r>
          </a:p>
          <a:p>
            <a:pPr>
              <a:defRPr sz="2800" b="1">
                <a:solidFill>
                  <a:srgbClr val="F5F5F7"/>
                </a:solidFill>
              </a:defRPr>
            </a:pPr>
            <a:r>
              <a:t>On-Device Inference &amp; NFPA Scientific 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2D3EE"/>
                </a:solidFill>
              </a:defRPr>
            </a:pPr>
            <a:r>
              <a:t>100% On-Device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TensorFlow.js WebGL (designed for Snapdragon NPU quantization via NNAPI). Zero frames leave the phone—100% attendee privacy and zero cloud server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2-Pass Multi-Scale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Pass 1 scans full frame for foreground people; Pass 2 activates a high-resolution center tile to count distant, occluded people that standard single-pass models miss.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45B4A"/>
                </a:solidFill>
              </a:defRPr>
            </a:pPr>
            <a:r>
              <a:t>Fruin LOS F Metric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Calibrated on crowd science (NFPA threshold ≥ 4.0 p/m² = crush danger). Combines Person Count, Density (p/m²), and Flow Velocity (+Δ/s) into a unified 0-100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07040" cy="8229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PIPELINE: CAMERA FRAME (30 FPS) → GPU/NPU 2-PASS TILING → DENSITY ESTIMATE → FLOW DELTA → RISK ALERT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DECENTRALIZED P2P RELAY</a:t>
            </a:r>
          </a:p>
          <a:p>
            <a:pPr>
              <a:defRPr sz="2800" b="1">
                <a:solidFill>
                  <a:srgbClr val="F5F5F7"/>
                </a:solidFill>
              </a:defRPr>
            </a:pPr>
            <a:r>
              <a:t>Zero-Internet Ad-Hoc Emergency Mesh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D9A72"/>
                </a:solidFill>
              </a:defRPr>
            </a:pPr>
            <a:r>
              <a:t>No Cellular Required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Operates when 4G/5G towers are saturated. Uses Google Nearby Connections API (BLE 5.2 + Wi-Fi Direct) to route encrypted alert packets between 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Bounded 3-Hop TTL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Time-to-Live bounds prevent broadcast storms and routing loops. Packets span &gt;450m across festival grounds in under 80ms total propagation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6600"/>
                </a:solidFill>
              </a:defRPr>
            </a:pPr>
            <a:r>
              <a:t>LRU Deduplication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Cryptographic packet IDs and an in-memory cache drop duplicate broadcasts instantly, ensuring zero wasted battery on volunteer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07040" cy="8229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D9A72"/>
                </a:solidFill>
              </a:defRPr>
            </a:pPr>
            <a:r>
              <a:t>GATE 3 NODE (SURGE) → [BLE HOP 1] → PATROL VOLUNTEER → [WI-FI DIRECT HOP 2] → CENTRAL DISPATCH (ALERT RECEIVED)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5B4A"/>
                </a:solidFill>
              </a:defRPr>
            </a:pPr>
            <a:r>
              <a:t>EMERGENCY PROTOCOLS</a:t>
            </a:r>
          </a:p>
          <a:p>
            <a:pPr>
              <a:defRPr sz="2800" b="1">
                <a:solidFill>
                  <a:srgbClr val="F5F5F7"/>
                </a:solidFill>
              </a:defRPr>
            </a:pPr>
            <a:r>
              <a:t>Tactile Hold-to-Fire SOS &amp; Medical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D45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5B4A"/>
                </a:solidFill>
              </a:defRPr>
            </a:pPr>
            <a:r>
              <a:t>Critical SOS (0.8s Hold)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Circular emergency button with animated SVG progress ring. 0.8-second hold-to-confirm mechanic guarantees zero accidental taps in crowded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Theft Incident Logging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Instant reporting for pickpocketing and lost property. Tags physical gate and GPS coordinates directly into the security command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29260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2D3EE"/>
                </a:solidFill>
              </a:defRPr>
            </a:pPr>
            <a:r>
              <a:t>Medical First Aid Triage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Alerts nearest medical volunteer (Medic-Priya Zone C) while displaying offline step-by-step resuscitation and crowd crush triage procedures.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07040" cy="8229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A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6600"/>
                </a:solidFill>
              </a:defRPr>
            </a:pPr>
            <a:r>
              <a:t>TACTICAL AUDIO: Built-in Web Audio API synthesizer generates UI clicks, radar pings, and SOS alarms with zero external asset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PHASE 2 ROADMAP</a:t>
            </a:r>
          </a:p>
          <a:p>
            <a:pPr>
              <a:defRPr sz="2800" b="1">
                <a:solidFill>
                  <a:srgbClr val="F5F5F7"/>
                </a:solidFill>
              </a:defRPr>
            </a:pPr>
            <a:r>
              <a:t>Venue CCTV / RTSP Integration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011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Zero New Hardware Required</a:t>
            </a:r>
          </a:p>
          <a:p>
            <a:pPr>
              <a:defRPr sz="1200">
                <a:solidFill>
                  <a:srgbClr val="91919B"/>
                </a:solidFill>
              </a:defRPr>
            </a:pPr>
            <a:r>
              <a:t>Stadiums and event venues already have dozens of RTSP/ONVIF security cameras installed. Phase 2 ingests these feeds via WebRTC Edge Gateways without buying extra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029200" cy="2011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3D9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D9A72"/>
                </a:solidFill>
              </a:defRPr>
            </a:pPr>
            <a:r>
              <a:t>Identical AI Vision Pipeline</a:t>
            </a:r>
          </a:p>
          <a:p>
            <a:pPr>
              <a:defRPr sz="1200">
                <a:solidFill>
                  <a:srgbClr val="91919B"/>
                </a:solidFill>
              </a:defRPr>
            </a:pPr>
            <a:r>
              <a:t>The detection model processes video frames identically regardless of whether the source is a phone camera or an RTSP stream. Three simulated channels demonstrated live (CAM-01, 02, 03).</a:t>
            </a:r>
          </a:p>
        </p:txBody>
      </p:sp>
      <p:pic>
        <p:nvPicPr>
          <p:cNvPr id="7" name="Picture 6" descr="05-ops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394960" cy="34561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600"/>
                </a:solidFill>
              </a:defRPr>
            </a:pPr>
            <a:r>
              <a:t>ENGINEERING HONESTY &amp; TRANSPARENCY</a:t>
            </a:r>
          </a:p>
          <a:p>
            <a:pPr>
              <a:defRPr sz="2800" b="1">
                <a:solidFill>
                  <a:srgbClr val="F5F5F7"/>
                </a:solidFill>
              </a:defRPr>
            </a:pPr>
            <a:r>
              <a:t>Today's Live Prototype vs. Production Target Build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D3EE"/>
                          </a:solidFill>
                        </a:defRPr>
                      </a:pPr>
                      <a:r>
                        <a:t>TECHNICAL DIMENSION</a:t>
                      </a:r>
                    </a:p>
                  </a:txBody>
                  <a:tcPr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D3EE"/>
                          </a:solidFill>
                        </a:defRPr>
                      </a:pPr>
                      <a:r>
                        <a:t>TODAY'S WORKING PROTOTYPE</a:t>
                      </a:r>
                    </a:p>
                  </a:txBody>
                  <a:tcPr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D3EE"/>
                          </a:solidFill>
                        </a:defRPr>
                      </a:pPr>
                      <a:r>
                        <a:t>GRAND FINALE TARGET BUILD</a:t>
                      </a:r>
                    </a:p>
                  </a:txBody>
                  <a:tcPr>
                    <a:solidFill>
                      <a:srgbClr val="1A1A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</a:defRPr>
                      </a:pPr>
                      <a:r>
                        <a:t>Target Platform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Next.js 14 Progressive Web App (PWA)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Native Android (Kotlin + Jetpack Compose)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</a:defRPr>
                      </a:pPr>
                      <a:r>
                        <a:t>On-Device AI Engine</a:t>
                      </a:r>
                    </a:p>
                  </a:txBody>
                  <a:tcPr>
                    <a:solidFill>
                      <a:srgbClr val="0E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TensorFlow.js WebGL (Browser GPU)</a:t>
                      </a:r>
                    </a:p>
                  </a:txBody>
                  <a:tcPr>
                    <a:solidFill>
                      <a:srgbClr val="0E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Quantized TFLite on Snapdragon NPU via NNAPI</a:t>
                      </a:r>
                    </a:p>
                  </a:txBody>
                  <a:tcPr>
                    <a:solidFill>
                      <a:srgbClr val="0E0E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</a:defRPr>
                      </a:pPr>
                      <a:r>
                        <a:t>Mesh Networking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Browser BroadcastChannel P2P Simulation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Google Nearby Connections (Wi-Fi Direct + BLE 5.2)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</a:defRPr>
                      </a:pPr>
                      <a:r>
                        <a:t>CCTV Ingestion</a:t>
                      </a:r>
                    </a:p>
                  </a:txBody>
                  <a:tcPr>
                    <a:solidFill>
                      <a:srgbClr val="0E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Simulated WebRTC RTSP Video Streams</a:t>
                      </a:r>
                    </a:p>
                  </a:txBody>
                  <a:tcPr>
                    <a:solidFill>
                      <a:srgbClr val="0E0E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On-Premise RTSP/HLS Edge Gateway Hardware</a:t>
                      </a:r>
                    </a:p>
                  </a:txBody>
                  <a:tcPr>
                    <a:solidFill>
                      <a:srgbClr val="0E0E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7"/>
                          </a:solidFill>
                        </a:defRPr>
                      </a:pPr>
                      <a:r>
                        <a:t>User Personas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Dual-Persona: Field Node &amp; Ops Room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1919B"/>
                          </a:solidFill>
                        </a:defRPr>
                      </a:pPr>
                      <a:r>
                        <a:t>Dual-Persona: Gate Marshals &amp; Central Police Dispatch</a:t>
                      </a:r>
                    </a:p>
                  </a:txBody>
                  <a:tcPr>
                    <a:solidFill>
                      <a:srgbClr val="12121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9A72"/>
                </a:solidFill>
              </a:defRPr>
            </a:pPr>
            <a:r>
              <a:t>GRAND FINALE ROADMAP</a:t>
            </a:r>
          </a:p>
          <a:p>
            <a:pPr>
              <a:defRPr sz="2800" b="1">
                <a:solidFill>
                  <a:srgbClr val="F5F5F7"/>
                </a:solidFill>
              </a:defRPr>
            </a:pPr>
            <a:r>
              <a:t>48-Hour Sprint Milestones &amp; Shipping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1945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6600"/>
                </a:solidFill>
              </a:defRPr>
            </a:pPr>
            <a:r>
              <a:t>0–12 Hours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• Deploy Kotlin Android app shell</a:t>
            </a:r>
            <a:br/>
            <a:r>
              <a:t>• Bind camera stream to Qualcomm NPU</a:t>
            </a:r>
            <a:br/>
            <a:r>
              <a:t>• Calibrate on-device risk gauge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21945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12–30 Hours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• Google Nearby Connections integration</a:t>
            </a:r>
            <a:br/>
            <a:r>
              <a:t>• Two-phone offline SOS hop live test</a:t>
            </a:r>
            <a:br/>
            <a:r>
              <a:t>• Verify zero-internet packet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219456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3D9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D9A72"/>
                </a:solidFill>
              </a:defRPr>
            </a:pPr>
            <a:r>
              <a:t>30–48 Hours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• Multi-zone command dashboard integration</a:t>
            </a:r>
            <a:br/>
            <a:r>
              <a:t>• WebRTC RTSP CCTV stream ingestion test</a:t>
            </a:r>
            <a:br/>
            <a:r>
              <a:t>• Rehearsal &amp; live judge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607040" cy="164592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5F7"/>
                </a:solidFill>
              </a:defRPr>
            </a:pPr>
            <a:r>
              <a:t>Festival Guardian: Predict. Respond. Relay.</a:t>
            </a:r>
          </a:p>
          <a:p>
            <a:pPr algn="ctr">
              <a:defRPr sz="1300">
                <a:solidFill>
                  <a:srgbClr val="91919B"/>
                </a:solidFill>
              </a:defRPr>
            </a:pPr>
            <a:r>
              <a:t>Empowering mass gatherings with on-device AI crowd safety and zero-cellular emergency routing.</a:t>
            </a:r>
          </a:p>
          <a:p>
            <a:br/>
            <a:pPr algn="ctr">
              <a:defRPr sz="1200" b="1">
                <a:solidFill>
                  <a:srgbClr val="22D3EE"/>
                </a:solidFill>
              </a:defRPr>
            </a:pPr>
            <a:r>
              <a:t>Live URL: https://festival-guardian.vercel.app  ·  GitHub: https://github.com/sujay2520/festival-guardian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1919B"/>
                </a:solidFill>
                <a:latin typeface="Calibri"/>
              </a:defRPr>
            </a:pPr>
            <a:r>
              <a:t>Festival Guardian · iQOO Hackathon 2026 Grand Finale                           Slide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